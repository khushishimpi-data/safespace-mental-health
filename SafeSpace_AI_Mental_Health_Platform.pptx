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t>SafeSpace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i="1">
                <a:solidFill>
                  <a:srgbClr val="02C39A"/>
                </a:solidFill>
                <a:latin typeface="Calibri"/>
              </a:defRPr>
            </a:pPr>
            <a:r>
              <a:t>AI Mental Health Therapist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AI-Powered Student Mental Health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51E3E"/>
                </a:solidFill>
                <a:latin typeface="Calibri"/>
              </a:defRPr>
            </a:pPr>
            <a:r>
              <a:t>@AI.with.Hassan | Built with MedGemma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28090"/>
                </a:solidFill>
                <a:latin typeface="Calibri"/>
              </a:defRPr>
            </a:pPr>
            <a:r>
              <a:t>Mental Health Crisis in Educational Institutions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Calibri"/>
              </a:defRPr>
            </a:pPr>
            <a:r>
              <a:t>35% of students report anxiety or depression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Calibri"/>
              </a:defRPr>
            </a:pPr>
            <a:r>
              <a:t>Fear of stigma prevents 60% from seeking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Calibri"/>
              </a:defRPr>
            </a:pPr>
            <a:r>
              <a:t>Limited access to timely professional counseling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862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Calibri"/>
              </a:defRPr>
            </a:pPr>
            <a:r>
              <a:t>Language barriers in diverse student populations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SafeSpace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A896"/>
                </a:solidFill>
                <a:latin typeface="Calibri"/>
              </a:defRPr>
            </a:pPr>
            <a:r>
              <a:t>Complete Mental Health Support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4114800" cy="914400"/>
          </a:xfrm>
          <a:prstGeom prst="roundRect">
            <a:avLst/>
          </a:prstGeom>
          <a:solidFill>
            <a:srgbClr val="F0F8F7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  <a:latin typeface="Calibri"/>
              </a:defRPr>
            </a:pPr>
            <a:r>
              <a:t>Anonymous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Auto-generated names &amp; IDs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4114800" cy="914400"/>
          </a:xfrm>
          <a:prstGeom prst="roundRect">
            <a:avLst/>
          </a:prstGeom>
          <a:solidFill>
            <a:srgbClr val="F0F8F7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  <a:latin typeface="Calibri"/>
              </a:defRPr>
            </a:pPr>
            <a:r>
              <a:t>AI Therapist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24/7 conversational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4114800" cy="914400"/>
          </a:xfrm>
          <a:prstGeom prst="roundRect">
            <a:avLst/>
          </a:prstGeom>
          <a:solidFill>
            <a:srgbClr val="F0F8F7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  <a:latin typeface="Calibri"/>
              </a:defRPr>
            </a:pPr>
            <a:r>
              <a:t>Structured Screening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Mood, sleep, stress assessment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828800"/>
            <a:ext cx="4114800" cy="914400"/>
          </a:xfrm>
          <a:prstGeom prst="roundRect">
            <a:avLst/>
          </a:prstGeom>
          <a:solidFill>
            <a:srgbClr val="F0F8F7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9202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  <a:latin typeface="Calibri"/>
              </a:defRPr>
            </a:pPr>
            <a:r>
              <a:t>Voice Enabled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86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Multilingual speech-to-text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017520"/>
            <a:ext cx="4114800" cy="914400"/>
          </a:xfrm>
          <a:prstGeom prst="roundRect">
            <a:avLst/>
          </a:prstGeom>
          <a:solidFill>
            <a:srgbClr val="F0F8F7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1089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  <a:latin typeface="Calibri"/>
              </a:defRPr>
            </a:pPr>
            <a:r>
              <a:t>Gamification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4747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Interactive wellness activities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4206240"/>
            <a:ext cx="4114800" cy="914400"/>
          </a:xfrm>
          <a:prstGeom prst="roundRect">
            <a:avLst/>
          </a:prstGeom>
          <a:solidFill>
            <a:srgbClr val="F0F8F7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429768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  <a:latin typeface="Calibri"/>
              </a:defRPr>
            </a:pPr>
            <a:r>
              <a:t>Emergency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663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Crisis intervention with Twilio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896"/>
                </a:solidFill>
                <a:latin typeface="Calibri"/>
              </a:defRPr>
            </a:pPr>
            <a:r>
              <a:t>4-Layer Intelligent System Design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737360"/>
            <a:ext cx="457200" cy="45720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737360"/>
            <a:ext cx="7589520" cy="457200"/>
          </a:xfrm>
          <a:prstGeom prst="rect">
            <a:avLst/>
          </a:prstGeom>
          <a:solidFill>
            <a:srgbClr val="F0F8F7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783080"/>
            <a:ext cx="7223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  <a:latin typeface="Calibri"/>
              </a:defRPr>
            </a:pPr>
            <a:r>
              <a:t>Frontend (Streamlit)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C3E50"/>
                </a:solidFill>
                <a:latin typeface="Calibri"/>
              </a:defRPr>
            </a:pPr>
            <a:r>
              <a:t>User-friendly interface for chat &amp; screening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788920"/>
            <a:ext cx="7589520" cy="457200"/>
          </a:xfrm>
          <a:prstGeom prst="rect">
            <a:avLst/>
          </a:prstGeom>
          <a:solidFill>
            <a:srgbClr val="F0F8F7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834639"/>
            <a:ext cx="7223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  <a:latin typeface="Calibri"/>
              </a:defRPr>
            </a:pPr>
            <a:r>
              <a:t>Backend (FastAPI)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C3E50"/>
                </a:solidFill>
                <a:latin typeface="Calibri"/>
              </a:defRPr>
            </a:pPr>
            <a:r>
              <a:t>Request validation &amp; session management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840479"/>
            <a:ext cx="457200" cy="45720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40479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840479"/>
            <a:ext cx="7589520" cy="457200"/>
          </a:xfrm>
          <a:prstGeom prst="rect">
            <a:avLst/>
          </a:prstGeom>
          <a:solidFill>
            <a:srgbClr val="F0F8F7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886199"/>
            <a:ext cx="7223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  <a:latin typeface="Calibri"/>
              </a:defRPr>
            </a:pPr>
            <a:r>
              <a:t>AI Agent (LangGraph/LangChain)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89119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C3E50"/>
                </a:solidFill>
                <a:latin typeface="Calibri"/>
              </a:defRPr>
            </a:pPr>
            <a:r>
              <a:t>Intelligent reasoning &amp; tool delegation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892040"/>
            <a:ext cx="457200" cy="45720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9204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892040"/>
            <a:ext cx="7589520" cy="457200"/>
          </a:xfrm>
          <a:prstGeom prst="rect">
            <a:avLst/>
          </a:prstGeom>
          <a:solidFill>
            <a:srgbClr val="F0F8F7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4937759"/>
            <a:ext cx="7223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  <a:latin typeface="Calibri"/>
              </a:defRPr>
            </a:pPr>
            <a:r>
              <a:t>Tools &amp; Services (MedGemma, Twilio, APIs)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40679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C3E50"/>
                </a:solidFill>
                <a:latin typeface="Calibri"/>
              </a:defRPr>
            </a:pPr>
            <a:r>
              <a:t>Emergency calls, therapist matching, voice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Feature 1: Mental Health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896"/>
                </a:solidFill>
                <a:latin typeface="Calibri"/>
              </a:defRPr>
            </a:pPr>
            <a:r>
              <a:t>Inspired by Travia - Personalized Wellness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640080" cy="640080"/>
          </a:xfrm>
          <a:prstGeom prst="round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/>
            </a:pPr>
            <a:r>
              <a:t>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  <a:latin typeface="Calibri"/>
              </a:defRPr>
            </a:pPr>
            <a:r>
              <a:t>Mood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Daily emotional state assessment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640080" cy="640080"/>
          </a:xfrm>
          <a:prstGeom prst="round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/>
            </a:pPr>
            <a:r>
              <a:t>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432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  <a:latin typeface="Calibri"/>
              </a:defRPr>
            </a:pPr>
            <a:r>
              <a:t>Sleep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63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Sleep patterns &amp; disturbances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640080" cy="640080"/>
          </a:xfrm>
          <a:prstGeom prst="round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/>
            </a:pPr>
            <a:r>
              <a:t>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576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  <a:latin typeface="Calibri"/>
              </a:defRPr>
            </a:pPr>
            <a:r>
              <a:t>Stress Levels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776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Stress sources &amp; coping mechanisms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72000"/>
            <a:ext cx="640080" cy="640080"/>
          </a:xfrm>
          <a:prstGeom prst="round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/>
            </a:pPr>
            <a: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5720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  <a:latin typeface="Calibri"/>
              </a:defRPr>
            </a:pPr>
            <a:r>
              <a:t>Behavior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892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Social withdrawal, substance 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1828800"/>
            <a:ext cx="3383280" cy="2926080"/>
          </a:xfrm>
          <a:prstGeom prst="rect">
            <a:avLst/>
          </a:prstGeom>
          <a:solidFill>
            <a:srgbClr val="F0F8F7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19202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090"/>
                </a:solidFill>
                <a:latin typeface="Calibri"/>
              </a:defRPr>
            </a:pPr>
            <a:r>
              <a:t>Personalized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3774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✓ Wellness score (0-100)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743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✓ Risk indicators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1089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✓ Self-help resources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4747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✓ Counseling 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8404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✓ Peer support suggestions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4206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✓ Follow-up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Feature 2: Voice-Enabled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896"/>
                </a:solidFill>
                <a:latin typeface="Calibri"/>
              </a:defRPr>
            </a:pPr>
            <a:r>
              <a:t>Accessible, Inclusive, Multilingual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743200" cy="3200400"/>
          </a:xfrm>
          <a:prstGeom prst="roundRect">
            <a:avLst/>
          </a:prstGeom>
          <a:solidFill>
            <a:srgbClr val="F0F8F7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090"/>
                </a:solidFill>
                <a:latin typeface="Calibri"/>
              </a:defRPr>
            </a:pPr>
            <a:r>
              <a:t>Speech-to-Text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Real-time voice input recognition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Automatic transcription to text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Handles accents &amp; background noise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828800"/>
            <a:ext cx="2743200" cy="3200400"/>
          </a:xfrm>
          <a:prstGeom prst="roundRect">
            <a:avLst/>
          </a:prstGeom>
          <a:solidFill>
            <a:srgbClr val="F0F8F7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090"/>
                </a:solidFill>
                <a:latin typeface="Calibri"/>
              </a:defRPr>
            </a:pPr>
            <a:r>
              <a:t>Multilingual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14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English, Hindi, Tamil, Bengali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Regional language inclusivity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Automatic language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828800"/>
            <a:ext cx="2743200" cy="3200400"/>
          </a:xfrm>
          <a:prstGeom prst="roundRect">
            <a:avLst/>
          </a:prstGeom>
          <a:solidFill>
            <a:srgbClr val="F0F8F7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090"/>
                </a:solidFill>
                <a:latin typeface="Calibri"/>
              </a:defRPr>
            </a:pPr>
            <a:r>
              <a:t>Accessibility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514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Users prefer speaking over typing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Reduces barriers for typing anxiety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Improves engagement for 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Feature 3: Anonymous Identity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896"/>
                </a:solidFill>
                <a:latin typeface="Calibri"/>
              </a:defRPr>
            </a:pPr>
            <a:r>
              <a:t>Zero-Exposure Privacy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090"/>
                </a:solidFill>
                <a:latin typeface="Calibri"/>
              </a:defRPr>
            </a:pPr>
            <a:r>
              <a:t>Auto-Generated Usernames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🧠 BlueMind_47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🌟 HopeWalker_12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🌙 QuietThought_89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🌊 CalmWave_34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  <a:latin typeface="Calibri"/>
              </a:defRPr>
            </a:pPr>
            <a:r>
              <a:t>🎯 MindSeeker_56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090"/>
                </a:solidFill>
                <a:latin typeface="Calibri"/>
              </a:defRPr>
            </a:pPr>
            <a:r>
              <a:t>Digital Avatar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031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✓ AI-generated cartoon avatar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603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✓ No real photos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17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✓ Customizable appearance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4747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✓ Confidential Student Wellness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9319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✓ Randomized non-traceable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3891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  <a:r>
              <a:t>✓ No roll numbers or personal details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03520"/>
            <a:ext cx="8229600" cy="1097280"/>
          </a:xfrm>
          <a:prstGeom prst="roundRect">
            <a:avLst/>
          </a:prstGeom>
          <a:solidFill>
            <a:srgbClr val="F0F8F7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028090"/>
                </a:solidFill>
                <a:latin typeface="Calibri"/>
              </a:defRPr>
            </a:pPr>
            <a:r>
              <a:t>✨ Result: Students access mental health support without fear of exposure or social stigma. Complete anonymity empowers open conversations and honest wellness assessment.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Feature 4: Gamification &amp; Wellness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896"/>
                </a:solidFill>
                <a:latin typeface="Calibri"/>
              </a:defRPr>
            </a:pPr>
            <a:r>
              <a:t>Engaging, Interactive, Reward-Based Mental Wellness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560320" cy="1554480"/>
          </a:xfrm>
          <a:prstGeom prst="roundRect">
            <a:avLst/>
          </a:prstGeom>
          <a:solidFill>
            <a:srgbClr val="F0F8F7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090"/>
                </a:solidFill>
                <a:latin typeface="Calibri"/>
              </a:defRPr>
            </a:pPr>
            <a:r>
              <a:t>Stress Awareness Quizzes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  <a:latin typeface="Calibri"/>
              </a:defRPr>
            </a:pPr>
            <a:r>
              <a:t>Identify stress triggers and coping strategies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828800"/>
            <a:ext cx="2560320" cy="1554480"/>
          </a:xfrm>
          <a:prstGeom prst="roundRect">
            <a:avLst/>
          </a:prstGeom>
          <a:solidFill>
            <a:srgbClr val="F0F8F7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090"/>
                </a:solidFill>
                <a:latin typeface="Calibri"/>
              </a:defRPr>
            </a:pPr>
            <a:r>
              <a:t>Mood Tracker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  <a:latin typeface="Calibri"/>
              </a:defRPr>
            </a:pPr>
            <a:r>
              <a:t>Daily check-ins with mood patterns &amp; 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828800"/>
            <a:ext cx="2560320" cy="1554480"/>
          </a:xfrm>
          <a:prstGeom prst="roundRect">
            <a:avLst/>
          </a:prstGeom>
          <a:solidFill>
            <a:srgbClr val="F0F8F7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920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090"/>
                </a:solidFill>
                <a:latin typeface="Calibri"/>
              </a:defRPr>
            </a:pPr>
            <a:r>
              <a:t>Mindfulness Mini-Games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  <a:latin typeface="Calibri"/>
              </a:defRPr>
            </a:pPr>
            <a:r>
              <a:t>Guided breathing, meditation, relaxation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2560320" cy="1554480"/>
          </a:xfrm>
          <a:prstGeom prst="roundRect">
            <a:avLst/>
          </a:prstGeom>
          <a:solidFill>
            <a:srgbClr val="F0F8F7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49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090"/>
                </a:solidFill>
                <a:latin typeface="Calibri"/>
              </a:defRPr>
            </a:pPr>
            <a:r>
              <a:t>Emotional Resilience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  <a:latin typeface="Calibri"/>
              </a:defRPr>
            </a:pPr>
            <a:r>
              <a:t>Build coping skills &amp; emotional strength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3657600"/>
            <a:ext cx="2560320" cy="1554480"/>
          </a:xfrm>
          <a:prstGeom prst="roundRect">
            <a:avLst/>
          </a:prstGeom>
          <a:solidFill>
            <a:srgbClr val="F0F8F7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3749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090"/>
                </a:solidFill>
                <a:latin typeface="Calibri"/>
              </a:defRPr>
            </a:pPr>
            <a:r>
              <a:t>Progress Tracking &amp; Rewards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  <a:latin typeface="Calibri"/>
              </a:defRPr>
            </a:pPr>
            <a:r>
              <a:t>Badges, points, leaderboards for consistency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657600"/>
            <a:ext cx="2560320" cy="1554480"/>
          </a:xfrm>
          <a:prstGeom prst="roundRect">
            <a:avLst/>
          </a:prstGeom>
          <a:solidFill>
            <a:srgbClr val="F0F8F7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7490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090"/>
                </a:solidFill>
                <a:latin typeface="Calibri"/>
              </a:defRPr>
            </a:pPr>
            <a:r>
              <a:t>Wellness Goals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  <a:latin typeface="Calibri"/>
              </a:defRPr>
            </a:pPr>
            <a:r>
              <a:t>Set and achieve personal mental health goals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Development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896"/>
                </a:solidFill>
                <a:latin typeface="Calibri"/>
              </a:defRPr>
            </a:pPr>
            <a:r>
              <a:t>4-Phase Implementation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✓ Phase 1: Frontend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Setup Streamlit UI | Chat interface design | User onboarding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✓ Phase 2: Backend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FastAPI server | Request validation | Session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✓ Phase 3: AI Agent &amp;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Ollama + MedGemma | Twilio integration | Location 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4D35E"/>
          </a:solidFill>
          <a:ln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✓ Phase 4: Testing &amp;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End-to-end testing | Security audit | Launch &amp;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896"/>
                </a:solidFill>
                <a:latin typeface="Calibri"/>
              </a:defRPr>
            </a:pPr>
            <a:r>
              <a:t>Complete Technology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Frontend &amp;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82880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Streamlit | FastAPI |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AI &amp;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3774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Google MedGemma | LangGraph | LangChain | OpenAI/Groq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Voice &amp; Speech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9260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Web Speech API | Azure Speech-to-Text | Google Cloud Speech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Emergency &amp; 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4747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Twilio (Emergency calls) | Google Maps API | Geolocation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Database &amp;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02336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PostgreSQL | MongoDB | Encrypted Cloud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57200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Docker | Kubernetes | AWS/GCP/Azure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Key Benefits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090"/>
                </a:solidFill>
                <a:latin typeface="Calibri"/>
              </a:defRPr>
            </a:pPr>
            <a:r>
              <a:t>Increases Help-Seeking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90% increase in anonymous access to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090"/>
                </a:solidFill>
                <a:latin typeface="Calibri"/>
              </a:defRPr>
            </a:pPr>
            <a:r>
              <a:t>Reduces Stigma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Zero identity exposure, safe space for 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090"/>
                </a:solidFill>
                <a:latin typeface="Calibri"/>
              </a:defRPr>
            </a:pPr>
            <a:r>
              <a:t>Improves Accessibility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Voice-enabled multilingual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6459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645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090"/>
                </a:solidFill>
                <a:latin typeface="Calibri"/>
              </a:defRPr>
            </a:pPr>
            <a:r>
              <a:t>24/7 Availability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Instant support anytime, anywhere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8346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8346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090"/>
                </a:solidFill>
                <a:latin typeface="Calibri"/>
              </a:defRPr>
            </a:pPr>
            <a:r>
              <a:t>Data-Driven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Track wellness trends &amp; 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0233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023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090"/>
                </a:solidFill>
                <a:latin typeface="Calibri"/>
              </a:defRPr>
            </a:pPr>
            <a:r>
              <a:t>Engagement Through Gamification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Consistent participation &amp; habit building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Security &amp; Privacy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896"/>
                </a:solidFill>
                <a:latin typeface="Calibri"/>
              </a:defRPr>
            </a:pPr>
            <a:r>
              <a:t>Trust-Based Architecture with HIPAA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Data Encryption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End-to-end encryption for all communications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🛡️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Anonymous 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Randomized, non-traceable user identification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⚖️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HIPAA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Full healthcare data protection standards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828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82880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Session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1488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Secure authentication &amp; token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9260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👁️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92608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Privacy Audit 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246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Track all data access &amp; maintain transparency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0233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02336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Incident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343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24/7 monitoring &amp; rapid response protocols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Success Metrics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📈 Adoption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Target: 60% of student population within 6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⏱️ Response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Average AI response time &lt; 2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😊 User Satisfaction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Target NPS score &gt; 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🎯 Screening Completion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09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90% of users complete initial wellness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459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💬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65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Average 3+ interactions per user per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5603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🆘 Crisis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8803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100% of crisis cases escalated to professionals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4747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🏆 Gamification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7947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60% increase in consistent platform usage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389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🌍 Accessibility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709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alibri"/>
              </a:defRPr>
            </a:pPr>
            <a:r>
              <a:t>Support in 5+ languages, 95% uptime guaranteed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Implementation Timeline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48840"/>
            <a:ext cx="91440" cy="548640"/>
          </a:xfrm>
          <a:prstGeom prst="rect">
            <a:avLst/>
          </a:prstGeom>
          <a:solidFill>
            <a:srgbClr val="F0F8F7"/>
          </a:solidFill>
          <a:ln>
            <a:solidFill>
              <a:srgbClr val="F0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7589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090"/>
                </a:solidFill>
                <a:latin typeface="Calibri"/>
              </a:defRPr>
            </a:pPr>
            <a:r>
              <a:t>Month 1-2 • Requirement Analysis &amp;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Define architecture, security, database schema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60320"/>
            <a:ext cx="365760" cy="36576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71800"/>
            <a:ext cx="91440" cy="548640"/>
          </a:xfrm>
          <a:prstGeom prst="rect">
            <a:avLst/>
          </a:prstGeom>
          <a:solidFill>
            <a:srgbClr val="F0F8F7"/>
          </a:solidFill>
          <a:ln>
            <a:solidFill>
              <a:srgbClr val="F0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7589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090"/>
                </a:solidFill>
                <a:latin typeface="Calibri"/>
              </a:defRPr>
            </a:pPr>
            <a:r>
              <a:t>Month 3-4 • Core Development (Phases 1-2)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8892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Frontend &amp; Backend setup, authentication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794760"/>
            <a:ext cx="91440" cy="548640"/>
          </a:xfrm>
          <a:prstGeom prst="rect">
            <a:avLst/>
          </a:prstGeom>
          <a:solidFill>
            <a:srgbClr val="F0F8F7"/>
          </a:solidFill>
          <a:ln>
            <a:solidFill>
              <a:srgbClr val="F0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7589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090"/>
                </a:solidFill>
                <a:latin typeface="Calibri"/>
              </a:defRPr>
            </a:pPr>
            <a:r>
              <a:t>Month 5-6 • AI Agent &amp; Integration (Phase 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LLM integration, tool development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206240"/>
            <a:ext cx="365760" cy="36576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617720"/>
            <a:ext cx="91440" cy="548640"/>
          </a:xfrm>
          <a:prstGeom prst="rect">
            <a:avLst/>
          </a:prstGeom>
          <a:solidFill>
            <a:srgbClr val="F0F8F7"/>
          </a:solidFill>
          <a:ln>
            <a:solidFill>
              <a:srgbClr val="F0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14800"/>
            <a:ext cx="7589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090"/>
                </a:solidFill>
                <a:latin typeface="Calibri"/>
              </a:defRPr>
            </a:pPr>
            <a:r>
              <a:t>Month 7 • Testing &amp; Security Audit (Phase 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3484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QA, penetration testing, HIPAA validation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029200"/>
            <a:ext cx="365760" cy="36576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440680"/>
            <a:ext cx="91440" cy="548640"/>
          </a:xfrm>
          <a:prstGeom prst="rect">
            <a:avLst/>
          </a:prstGeom>
          <a:solidFill>
            <a:srgbClr val="F0F8F7"/>
          </a:solidFill>
          <a:ln>
            <a:solidFill>
              <a:srgbClr val="F0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937760"/>
            <a:ext cx="7589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090"/>
                </a:solidFill>
                <a:latin typeface="Calibri"/>
              </a:defRPr>
            </a:pPr>
            <a:r>
              <a:t>Month 8 • Beta Launch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5780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Pilot with 100 students, gather feedback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852160"/>
            <a:ext cx="365760" cy="365760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760720"/>
            <a:ext cx="7589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090"/>
                </a:solidFill>
                <a:latin typeface="Calibri"/>
              </a:defRPr>
            </a:pPr>
            <a:r>
              <a:t>Month 9 • Full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0807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Scale to entire student population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E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2C39A"/>
                </a:solidFill>
                <a:latin typeface="Calibri"/>
              </a:defRPr>
            </a:pPr>
            <a:r>
              <a:t>Breaking Barriers. Building Hope.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SafeSpace: Making Mental Health Support Accessible, Anonymous, and Effective for Every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4D35E"/>
                </a:solidFill>
                <a:latin typeface="Calibri"/>
              </a:defRPr>
            </a:pPr>
            <a:r>
              <a:t>@AI.with.Hassan | AI-Powered Mental Health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